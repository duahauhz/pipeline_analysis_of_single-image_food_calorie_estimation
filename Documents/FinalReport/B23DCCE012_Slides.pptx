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2E7D32"/>
                </a:solidFill>
                <a:latin typeface="Arial"/>
              </a:defRPr>
            </a:pPr>
            <a:r>
              <a:t>HỌC VIỆN CÔNG NGHỆ BƯU CHÍNH VIỄN THÔNG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6692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07A8C"/>
                </a:solidFill>
                <a:latin typeface="Arial"/>
              </a:defRPr>
            </a:pPr>
            <a:r>
              <a:t>Khoa Công nghệ Thông tin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8229600" cy="228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A1A2E"/>
                </a:solidFill>
                <a:latin typeface="Arial"/>
              </a:defRPr>
            </a:pPr>
            <a:r>
              <a:t>PHÂN TÍCH PIPELINE ƯỚC LƯỢNG CALO</a:t>
            </a:r>
            <a:br/>
            <a:r>
              <a:t>THỰC PHẨM TỪ ẢNH RGB ĐƠN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103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E7D32"/>
                </a:solidFill>
                <a:latin typeface="Arial"/>
              </a:defRPr>
            </a:pPr>
            <a:r>
              <a:t>Xác Định Bottleneck Thật Sự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560320"/>
            <a:ext cx="8229600" cy="2286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697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37475F"/>
                </a:solidFill>
                <a:latin typeface="Arial"/>
              </a:defRPr>
            </a:pPr>
            <a:r>
              <a:t>Giảng viên hướng dẫn:</a:t>
            </a:r>
          </a:p>
          <a:p>
            <a:pPr algn="l">
              <a:defRPr sz="1200" b="0" i="0">
                <a:solidFill>
                  <a:srgbClr val="37475F"/>
                </a:solidFill>
                <a:latin typeface="Arial"/>
              </a:defRPr>
            </a:pPr>
            <a:r>
              <a:t>  Kim Ngọc Bách</a:t>
            </a:r>
          </a:p>
          <a:p>
            <a:pPr algn="l">
              <a:defRPr sz="1200" b="1" i="0">
                <a:solidFill>
                  <a:srgbClr val="37475F"/>
                </a:solidFill>
                <a:latin typeface="Arial"/>
              </a:defRPr>
            </a:pPr>
            <a:r>
              <a:t>Sinh viên thực hiện:</a:t>
            </a:r>
          </a:p>
          <a:p>
            <a:pPr algn="l">
              <a:defRPr sz="1200" b="0" i="0">
                <a:solidFill>
                  <a:srgbClr val="37475F"/>
                </a:solidFill>
                <a:latin typeface="Arial"/>
              </a:defRPr>
            </a:pPr>
            <a:r>
              <a:t>  Đặng Văn Chiến - B23DCCE012 - D23CQCE06-B</a:t>
            </a:r>
          </a:p>
          <a:p>
            <a:pPr algn="l">
              <a:defRPr sz="1100" b="0" i="1">
                <a:solidFill>
                  <a:srgbClr val="37475F"/>
                </a:solidFill>
                <a:latin typeface="Arial"/>
              </a:defRPr>
            </a:pPr>
            <a:r>
              <a:t>Hà Nội, 2026</a:t>
            </a:r>
          </a:p>
        </p:txBody>
      </p:sp>
      <p:pic>
        <p:nvPicPr>
          <p:cNvPr id="12" name="Picture 11" descr="fig8_dataset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74320"/>
            <a:ext cx="3566160" cy="25832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NỘI DUNG THUYẾT TRÌNH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594360"/>
            <a:ext cx="11521440" cy="1828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731520"/>
            <a:ext cx="2743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7498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PHẦN 1</a:t>
            </a:r>
            <a:br/>
            <a:r>
              <a:t>GIỚI THIỆU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37160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3716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1. Bối cảnh &amp; Động cơ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9164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16916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2. Bài toán &amp; Phạm 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1168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0116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3. Tài liệu liên quan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731520"/>
            <a:ext cx="2743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7498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PHẦN 2</a:t>
            </a:r>
            <a:br/>
            <a:r>
              <a:t>PHƯƠNG PHÁP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37160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13716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4. Dữ liệu ECUSTFD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169164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16916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5. YOLOv13n - Kiến trúc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01168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0116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6. YOLOv13n - Huấn luyện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33172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2331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7. Pipeline ước lượng calo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731520"/>
            <a:ext cx="2743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7498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PHẦN 3</a:t>
            </a:r>
            <a:br/>
            <a:r>
              <a:t>KẾT QUẢ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37160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3716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8. Kết quả ước lượng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69164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16916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9. Phân tích Bottleneck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01168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81928" y="20116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10. So sánh YOLOv13n vs YOLOv8n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233172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2331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11. Tối ưu tốc độ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731520"/>
            <a:ext cx="274320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7498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PHẦN 4</a:t>
            </a:r>
            <a:br/>
            <a:r>
              <a:t>KẾT LUẬN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98280" y="137160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08008" y="13716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12. Ý nghĩa &amp; Đóng góp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169164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08008" y="169164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13. Hạn chế &amp; Hướng phát triển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98280" y="2011680"/>
            <a:ext cx="36576" cy="20116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08008" y="201168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14. Tổng kết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BỐI CẢNH TOÀN CẦU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3566160" cy="5760720"/>
          </a:xfrm>
          <a:prstGeom prst="rect">
            <a:avLst/>
          </a:prstGeom>
          <a:solidFill>
            <a:srgbClr val="F7F8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7132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B5E20"/>
                </a:solidFill>
                <a:latin typeface="Arial"/>
              </a:defRPr>
            </a:pPr>
            <a:r>
              <a:t>BÉO PHÌ TOÀN CẦU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097280"/>
            <a:ext cx="329184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3x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Tăng gấp 3 lần kể từ 1975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329184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650M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974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Người lớn bị ảnh hưởng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91840"/>
            <a:ext cx="3291840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26.2%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FFFFFF"/>
                </a:solidFill>
                <a:latin typeface="Arial"/>
              </a:defRPr>
            </a:pPr>
            <a:r>
              <a:t>Tỷ lệ béo phì VN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37475F"/>
                </a:solidFill>
                <a:latin typeface="Arial"/>
              </a:defRPr>
            </a:pPr>
            <a:r>
              <a:t>Nguon: WHO Global Health Observatory 2021</a:t>
            </a:r>
          </a:p>
          <a:p>
            <a:pPr algn="l">
              <a:defRPr sz="400" b="0" i="0">
                <a:solidFill>
                  <a:srgbClr val="37475F"/>
                </a:solidFill>
                <a:latin typeface="Arial"/>
              </a:defRPr>
            </a:pPr>
          </a:p>
          <a:p>
            <a:pPr algn="l">
              <a:defRPr sz="1100" b="1" i="0">
                <a:solidFill>
                  <a:srgbClr val="37475F"/>
                </a:solidFill>
                <a:latin typeface="Arial"/>
              </a:defRPr>
            </a:pPr>
            <a:r>
              <a:t>Việt Nam: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  2020: 25.2% người trưởng thành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  2024: 26.2% người trưởng thành</a:t>
            </a:r>
          </a:p>
          <a:p>
            <a:pPr algn="l">
              <a:defRPr sz="850" b="0" i="1">
                <a:solidFill>
                  <a:srgbClr val="37475F"/>
                </a:solidFill>
                <a:latin typeface="Arial"/>
              </a:defRPr>
            </a:pPr>
            <a:r>
              <a:t>  (Nguồn: Bộ Y tế Việt Nam)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640080"/>
            <a:ext cx="3840480" cy="2651760"/>
          </a:xfrm>
          <a:prstGeom prst="rect">
            <a:avLst/>
          </a:prstGeom>
          <a:solidFill>
            <a:srgbClr val="F7F8FA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7132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2828"/>
                </a:solidFill>
                <a:latin typeface="Arial"/>
              </a:defRPr>
            </a:pPr>
            <a:r>
              <a:t>VẤN ĐỀ HIỆN TẠI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79" y="1051560"/>
            <a:ext cx="3566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Tự báo cáo sai lệch 20-50% lượng thức ăn</a:t>
            </a:r>
          </a:p>
          <a:p>
            <a:pPr algn="l">
              <a:defRPr sz="850" b="0" i="1">
                <a:solidFill>
                  <a:srgbClr val="37475F"/>
                </a:solidFill>
                <a:latin typeface="Arial"/>
              </a:defRPr>
            </a:pPr>
            <a:r>
              <a:t>(Lichtman et al., NEJM, 1992)</a:t>
            </a:r>
          </a:p>
          <a:p>
            <a:pPr algn="l">
              <a:defRPr sz="400" b="0" i="0">
                <a:solidFill>
                  <a:srgbClr val="37475F"/>
                </a:solidFill>
                <a:latin typeface="Arial"/>
              </a:defRPr>
            </a:pP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Đo lường thủ công tốn thời gian, công suất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Cân điện tử không tiện lợi ngoài nhà hàng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Không có hệ thống ước lượng calo tự động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3429000"/>
            <a:ext cx="3840480" cy="2971800"/>
          </a:xfrm>
          <a:prstGeom prst="rect">
            <a:avLst/>
          </a:prstGeom>
          <a:solidFill>
            <a:srgbClr val="F1F8E9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79" y="350215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B5E20"/>
                </a:solidFill>
                <a:latin typeface="Arial"/>
              </a:defRPr>
            </a:pPr>
            <a:r>
              <a:t>GIẢI PHÁP: THỊ GIÁC MÁY TÍNH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79" y="3840480"/>
            <a:ext cx="3566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37475F"/>
                </a:solidFill>
                <a:latin typeface="Arial"/>
              </a:defRPr>
            </a:pPr>
            <a:r>
              <a:t>Ưu điểm: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  Tự động - Nhanh - Khách quan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  Chỉ cần ảnh RGB + đồng xu tham chiếu</a:t>
            </a:r>
          </a:p>
          <a:p>
            <a:pPr algn="l">
              <a:defRPr sz="400" b="0" i="0">
                <a:solidFill>
                  <a:srgbClr val="37475F"/>
                </a:solidFill>
                <a:latin typeface="Arial"/>
              </a:defRPr>
            </a:pPr>
          </a:p>
          <a:p>
            <a:pPr algn="l">
              <a:defRPr sz="1050" b="1" i="0">
                <a:solidFill>
                  <a:srgbClr val="37475F"/>
                </a:solidFill>
                <a:latin typeface="Arial"/>
              </a:defRPr>
            </a:pPr>
            <a:r>
              <a:t>Ứng dụng: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  Đánh giá chế độ ăn hằng ngày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  Quản lý béo phì, đái tháo đường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  Dinh dưỡng cá nhân hóa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599" y="594360"/>
            <a:ext cx="3657600" cy="2770632"/>
          </a:xfrm>
          <a:prstGeom prst="rect">
            <a:avLst/>
          </a:prstGeom>
          <a:noFill/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dataset_sample_annota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19" y="640080"/>
            <a:ext cx="3566160" cy="26746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8275319" y="3520440"/>
            <a:ext cx="3566160" cy="2880360"/>
          </a:xfrm>
          <a:prstGeom prst="rect">
            <a:avLst/>
          </a:prstGeom>
          <a:solidFill>
            <a:srgbClr val="F7F8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9" y="3611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Arial"/>
              </a:defRPr>
            </a:pPr>
            <a:r>
              <a:t>MINH HỌA DỮ LIỆU ANNOTATED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79" y="3977639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37475F"/>
                </a:solidFill>
                <a:latin typeface="Arial"/>
              </a:defRPr>
            </a:pPr>
            <a:r>
              <a:t>Ảnh thực tế từ tập ECUSTFD: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- Bounding Box phát hiện đối tượng thực phẩm (món ăn) và đồng xu 25mm làm vật tham chiếu.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- Đồng xu được dùng để tính toán tỉ lệ pixel-to-metric (scale factor) đổi sang kích thước thật.</a:t>
            </a:r>
          </a:p>
          <a:p>
            <a:pPr algn="l">
              <a:defRPr sz="1000" b="0" i="0">
                <a:solidFill>
                  <a:srgbClr val="37475F"/>
                </a:solidFill>
                <a:latin typeface="Arial"/>
              </a:defRPr>
            </a:pPr>
            <a:r>
              <a:t>- Đây là đầu vào duy nhất cho pipeline ước lượng thể tích và tính toán calo từ ảnh RGB đơn.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BÀI TOÁN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530352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Đầu vào (Input): Ảnh RGB đơn + đồng xu 25mm tham chiếu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530352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Đầu ra (Output): Calo của mỗi món ăn trong ảnh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178308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B5E20"/>
                </a:solidFill>
                <a:latin typeface="Arial"/>
              </a:defRPr>
            </a:pPr>
            <a:r>
              <a:t>PIPELINE 5 GIAI ĐOẠN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194560"/>
            <a:ext cx="1737360" cy="1143000"/>
          </a:xfrm>
          <a:prstGeom prst="rect">
            <a:avLst/>
          </a:prstGeom>
          <a:solidFill>
            <a:srgbClr val="F7F8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Ảnh RGB</a:t>
            </a:r>
            <a:br/>
            <a:r>
              <a:t>đơn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63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Bước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6014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2E7D32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2194560"/>
            <a:ext cx="1737360" cy="1143000"/>
          </a:xfrm>
          <a:prstGeom prst="rect">
            <a:avLst/>
          </a:prstGeom>
          <a:solidFill>
            <a:srgbClr val="F7F8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Phát hiện</a:t>
            </a:r>
            <a:br/>
            <a:r>
              <a:t>YOLOv13n</a:t>
            </a:r>
            <a:br/>
            <a:r>
              <a:t>bbox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063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Bước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6014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2E7D32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92040" y="2194560"/>
            <a:ext cx="1737360" cy="1143000"/>
          </a:xfrm>
          <a:prstGeom prst="rect">
            <a:avLst/>
          </a:prstGeom>
          <a:solidFill>
            <a:srgbClr val="F7F8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Hiệu chuẩn</a:t>
            </a:r>
            <a:br/>
            <a:r>
              <a:t>Đồng xu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3063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Bước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6014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2E7D32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194560"/>
            <a:ext cx="1737360" cy="1143000"/>
          </a:xfrm>
          <a:prstGeom prst="rect">
            <a:avLst/>
          </a:prstGeom>
          <a:solidFill>
            <a:srgbClr val="F7F8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Thể tích</a:t>
            </a:r>
            <a:br/>
            <a:r>
              <a:t>Hình học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063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Bước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26014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2E7D32"/>
                </a:solidFill>
                <a:latin typeface="Arial"/>
              </a:defRPr>
            </a:pPr>
            <a:r>
              <a:t>-&gt;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06840" y="2194560"/>
            <a:ext cx="1737360" cy="1143000"/>
          </a:xfrm>
          <a:prstGeom prst="rect">
            <a:avLst/>
          </a:prstGeom>
          <a:solidFill>
            <a:srgbClr val="F7F8FA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23317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Calo</a:t>
            </a:r>
            <a:br/>
            <a:r>
              <a:t>kcal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30632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Bước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520440"/>
            <a:ext cx="713232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54787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ĐIỂM KHÁC BIỆT VỚI CÁC NGHIÊN CỨU TRƯỚC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393192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Không cần cảm biến độ sâu depth sensor (khác với Nutrition5k)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Không cần 2 góc chụp (khác với ECUSTFD gốc)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Không cần NeRF/3D (khác với VolETA)</a:t>
            </a:r>
          </a:p>
          <a:p>
            <a:pPr algn="l">
              <a:defRPr sz="4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1" i="1">
                <a:solidFill>
                  <a:srgbClr val="1A1A2E"/>
                </a:solidFill>
                <a:latin typeface="Arial"/>
              </a:defRPr>
            </a:pPr>
            <a:r>
              <a:t>=&gt; Phù hợp triển khai di động</a:t>
            </a:r>
          </a:p>
        </p:txBody>
      </p:sp>
      <p:pic>
        <p:nvPicPr>
          <p:cNvPr id="35" name="Picture 34" descr="fig10_end2end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520440"/>
            <a:ext cx="4572000" cy="2117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PHẠM VI NGHIÊN CỨU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5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54864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858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TRONG PHẠM VI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051560"/>
            <a:ext cx="5486400" cy="530352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Tập dữ liệu: ECUSTFD (19 lớp Trung Quốc)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Mô hình phát hiện: YOLOv13n (SOTA)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Quy trình: 5 giai đoạn end-to-end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Đánh giá: MAPE, MAE, Độ chính xác @20%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So sánh: YOLOv13n vs YOLOv8n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Tối ưu hóa: ONNX, TensorRT, Batch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Ablation: Nguồn sai số định lượng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640080"/>
            <a:ext cx="612648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68580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NGOÀI PHẠM VI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051560"/>
            <a:ext cx="6126480" cy="5303520"/>
          </a:xfrm>
          <a:prstGeom prst="rect">
            <a:avLst/>
          </a:prstGeom>
          <a:solidFill>
            <a:srgbClr val="F7F8FA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143000"/>
            <a:ext cx="5852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Thực phẩm Việt Nam (chỉ dùng tập ECUSTFD)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Tập dữ liệu Nutrition5k (chưa đánh giá)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Thiết bị di động thực tế (chưa triển khai ứng dụng)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Phân vùng thực thể Instance Segmentation (chỉ dùng bbox)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Đa góc chụp (chỉ dùng 1 ảnh đơn)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Ứng dụng y tế lâm sàng</a:t>
            </a:r>
          </a:p>
          <a:p>
            <a:pPr algn="l">
              <a:defRPr sz="5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Tái cấu trúc 3D phức tạp (chỉ dùng mô hình hình học đơn giản)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TỔNG QUAN TÀI LIỆU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6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640080"/>
          <a:ext cx="7772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468880"/>
                <a:gridCol w="1554480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Phương pháp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Yêu cầu đầu vào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MAPE calo %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Nguồn tài liệu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ECUSTFD gốc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RGB đôi (top+side)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18.9%†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[7]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Nutrition5k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RGB-D overhead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22.5%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[11]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MFP3D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Point cloud + RGB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41.43%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[9]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BÁO CÁO NÀY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RGB đơn + đồng xu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46.93%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Đề tài này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569464"/>
            <a:ext cx="7772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707A8C"/>
                </a:solidFill>
                <a:latin typeface="Arial"/>
              </a:defRPr>
            </a:pPr>
            <a:r>
              <a:t>† MAPE thể tích ≈ 10.28%; MAPE calo không công bố trực tiếp trong nghiên cứu gốc.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19" y="640080"/>
            <a:ext cx="356616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685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B5E20"/>
                </a:solidFill>
                <a:latin typeface="Arial"/>
              </a:defRPr>
            </a:pPr>
            <a:r>
              <a:t>LÝ DO CHỌN PHƯƠNG PHÁP: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00584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Đơn giản, không cần thiết bị đo chiều sâu (depth sensor).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Tốc độ thời gian thực, phù hợp trên thiết bị di động.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Chi phí triển khai thấp, phù hợp với người dùng đại trà.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743200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B5E20"/>
                </a:solidFill>
                <a:latin typeface="Arial"/>
              </a:defRPr>
            </a:pPr>
            <a:r>
              <a:t>CÁC HƯỚNG TIẾP CẬN ƯỚC LƯỢNG THỂ TÍCH THỰC PHẨM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63240"/>
            <a:ext cx="6217920" cy="3474720"/>
          </a:xfrm>
          <a:prstGeom prst="rect">
            <a:avLst/>
          </a:prstGeom>
          <a:solidFill>
            <a:srgbClr val="F7F8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15468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Dual-image (Đa góc chụp):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  Yêu cầu chụp 2 ảnh góc từ trên xuống (top) và bên cạnh (side) (ECUSTFD gốc). Mặc dù có độ chính xác cao (MAPE ~10%), nhưng gây bất tiện lớn cho người dùng.</a:t>
            </a: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RGB-D (Cảm biến chiều sâu):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  Yêu cầu cảm biến LiDAR hoặc RGB-D chuyên dụng (Nutrition5k, VolETA). Cho phép dựng hình 3D tốt nhưng chi phí thiết bị rất cao.</a:t>
            </a: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Monocular RGB (Ảnh đơn + scale):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  Chỉ cần 1 ảnh RGB từ điện thoại thông thường + đồng xu làm scale factor (MonoBite, Báo cáo này). Tính tiện dụng tối đa.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84264" y="3026664"/>
            <a:ext cx="5193792" cy="2796896"/>
          </a:xfrm>
          <a:prstGeom prst="rect">
            <a:avLst/>
          </a:prstGeom>
          <a:noFill/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fig6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3063240"/>
            <a:ext cx="5120640" cy="27310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20840" y="583270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1">
                <a:solidFill>
                  <a:srgbClr val="707A8C"/>
                </a:solidFill>
                <a:latin typeface="Arial"/>
              </a:defRPr>
            </a:pPr>
            <a:r>
              <a:t>Biểu đồ so sánh sai số calo (MAPE) với tài liệu liên quan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TẬP DỮ LIỆU ECUSTFD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7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4754880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7512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ECUSTFD (Liang &amp; Li, 2017)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024128"/>
          <a:ext cx="4754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5544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Tập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Ảnh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Đối tượng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Huấn luyện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620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1,261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Kiểm định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623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1,270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Kiểm 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1,728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3,527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TỔNG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2,976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6,058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834640"/>
            <a:ext cx="4754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19 lớp thực phẩm phổ biến (Trung Quốc).</a:t>
            </a:r>
          </a:p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1 lớp đồng xu 25mm để làm scale factor.</a:t>
            </a:r>
          </a:p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Thu thập trong môi trường phòng thí nghiệm kiểm soát.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749039"/>
            <a:ext cx="4754880" cy="29260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7764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PHÂN BỐ LỚP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1148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Nhiều nhất: coin (2971 vật), apple (321 vật).</a:t>
            </a:r>
          </a:p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Ít nhất: grape (58), bread (66).</a:t>
            </a:r>
          </a:p>
          <a:p>
            <a:pPr algn="l">
              <a:defRPr sz="1050" b="1" i="0">
                <a:solidFill>
                  <a:srgbClr val="1A1A2E"/>
                </a:solidFill>
                <a:latin typeface="Arial"/>
              </a:defRPr>
            </a:pPr>
            <a:r>
              <a:t>• Đặc điểm: Tập dữ liệu rất mất cân bằng -&gt; Cần tăng cường dữ liệu (Data Augmentation) khi huấn luyện mô hình.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21224" y="603504"/>
            <a:ext cx="3227832" cy="2359152"/>
          </a:xfrm>
          <a:prstGeom prst="rect">
            <a:avLst/>
          </a:prstGeom>
          <a:noFill/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g8_dataset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640080"/>
            <a:ext cx="3154680" cy="228520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57800" y="297180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707A8C"/>
                </a:solidFill>
                <a:latin typeface="Arial"/>
              </a:defRPr>
            </a:pPr>
            <a:r>
              <a:t>Hình 1: Thư viện ảnh các lớp thực phẩm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50224" y="603504"/>
            <a:ext cx="3227832" cy="2445091"/>
          </a:xfrm>
          <a:prstGeom prst="rect">
            <a:avLst/>
          </a:prstGeom>
          <a:noFill/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ataset_sample_annotate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640080"/>
            <a:ext cx="3154680" cy="236601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86800" y="3057739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707A8C"/>
                </a:solidFill>
                <a:latin typeface="Arial"/>
              </a:defRPr>
            </a:pPr>
            <a:r>
              <a:t>Hình 2: Ví dụ nhãn annotation detection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0" y="3749039"/>
            <a:ext cx="6583680" cy="265176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0" y="3840480"/>
            <a:ext cx="6309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Arial"/>
              </a:defRPr>
            </a:pPr>
            <a:r>
              <a:t>NHẬN XÉT TẬP DỮ LIỆU: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160520"/>
            <a:ext cx="6309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Tính hợp nhất: ECUSTFD cung cấp cả khối lượng thực tế (ground-truth mass) của món ăn thông qua cân đo lường, cho phép tính toán sai số calo tuyệt đối.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Tính đa dạng hình học: Các lớp bao gồm nhiều hình dạng khác nhau (Apple: khối tròn/ellipsoid, Bread: khối hộp/box, Banana: khối cong/complex), đây là bài kiểm tra phù hợp để đánh giá độ chính xác của quy trình hình học.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Chất lượng ảnh: Ảnh RGB độ phân giải cao, rõ nét, tạo điều kiện cho YOLOv13n đạt độ chính xác cao trong phát hiện.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KIẾN TRÚC YOLOv13n - HYPERACE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8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77724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751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667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BB6A"/>
                </a:solidFill>
                <a:latin typeface="Arial"/>
              </a:defRPr>
            </a:pPr>
            <a:r>
              <a:t>1.42M params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960120"/>
            <a:ext cx="7772400" cy="1014984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051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DS-C3k2 blocks (Depthwise Separable)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3441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Trích xuất đặc trưng B1-B5 đa tỉ lệ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6367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Giảm 30% tham số so với phiên bản trước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66544"/>
            <a:ext cx="77724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0939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NECK - HyperACE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0939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BB6A"/>
                </a:solidFill>
                <a:latin typeface="Arial"/>
              </a:defRPr>
            </a:pPr>
            <a:r>
              <a:t>0.68M params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386584"/>
            <a:ext cx="7772400" cy="1014984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478024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Hypergraph-based Adaptive Correlation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77063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3 nhánh: High-order/Low-order/Shortcut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063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Tương quan bậc cao giữa các pixels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493008"/>
            <a:ext cx="77724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5204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5204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66BB6A"/>
                </a:solidFill>
                <a:latin typeface="Arial"/>
              </a:defRPr>
            </a:pPr>
            <a:r>
              <a:t>0.35M params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813048"/>
            <a:ext cx="7772400" cy="722376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90448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Anchor-free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19709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Trực tiếp dự đoán bbox + class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303520"/>
            <a:ext cx="246888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2.45M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806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Tổng tham số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303520"/>
            <a:ext cx="246888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6.40 GFLOPs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806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Tính toán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32120" y="5303520"/>
            <a:ext cx="2468880" cy="10972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32120" y="5349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  <a:latin typeface="Arial"/>
              </a:defRPr>
            </a:pPr>
            <a:r>
              <a:t>5.17 MB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5806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  <a:latin typeface="Arial"/>
              </a:defRPr>
            </a:pPr>
            <a:r>
              <a:t>Kích thước model</a:t>
            </a:r>
          </a:p>
        </p:txBody>
      </p:sp>
      <p:pic>
        <p:nvPicPr>
          <p:cNvPr id="37" name="Picture 36" descr="fig9_train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640080"/>
            <a:ext cx="3657600" cy="2307750"/>
          </a:xfrm>
          <a:prstGeom prst="rect">
            <a:avLst/>
          </a:prstGeom>
        </p:spPr>
      </p:pic>
      <p:pic>
        <p:nvPicPr>
          <p:cNvPr id="38" name="Picture 37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3474720"/>
            <a:ext cx="36576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YOLOv13n - HUẤN LUYỆN &amp; KẾT QUẢ PHÁT HIỆN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9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50292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75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SIÊU THAM SỐ HUẤN LUYỆN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5029200" cy="242316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51560"/>
            <a:ext cx="47548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Pre-trained: COCO 80 lớp (transfer learning).</a:t>
            </a:r>
          </a:p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Epochs: 100  |  Batch size: 4  |  Bộ tối ưu hóa: AdamW.</a:t>
            </a:r>
          </a:p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Kích thước ảnh: 640x640 pixels.</a:t>
            </a:r>
          </a:p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GPU huấn luyện: RTX 4050 Laptop 6GB.</a:t>
            </a:r>
          </a:p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Tăng cường dữ liệu (Augmentation): Mosaic 1.0, Copy-paste 0.1, HSV.</a:t>
            </a:r>
          </a:p>
          <a:p>
            <a:pPr algn="l">
              <a:defRPr sz="1050" b="0" i="0">
                <a:solidFill>
                  <a:srgbClr val="1A1A2E"/>
                </a:solidFill>
                <a:latin typeface="Arial"/>
              </a:defRPr>
            </a:pPr>
            <a:r>
              <a:t>• Ngưỡng tin cậy (Confidence threshold): 0.25.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640080"/>
            <a:ext cx="621792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0" y="667512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KẾT QUẢ PHÁT HIỆN - TEST SET (YOLOv13n vs YOLOv8n)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0" y="960120"/>
          <a:ext cx="62179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463040"/>
                <a:gridCol w="1463040"/>
              </a:tblGrid>
              <a:tr h="34616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Chỉ số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YOLOv13n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YOLOv8n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Thắng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mAP@0.5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99.23%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99.08%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YOLOv13n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mAP@0.5:0.95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91.73%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90.93%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YOLOv13n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99.45%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98.90%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YOLOv13n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99.73%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99.26%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YOLOv13n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Tham số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2.45M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3.01M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YOLOv13n (-18.6%)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617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Tốc độ (FPS)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27.1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56.5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YOLOv8n (nhanh)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20040" y="3520440"/>
            <a:ext cx="5029200" cy="283464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B5E20"/>
                </a:solidFill>
                <a:latin typeface="Arial"/>
              </a:defRPr>
            </a:pPr>
            <a:r>
              <a:t>NHẬN XÉT &amp; ĐÁNH GIÁ: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77639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Độ chính xác phát hiện: Mô hình đạt mAP@0.5 gần như tuyệt đối (99.23%), phát hiện hoàn hảo toàn bộ các loại thực phẩm và đồng xu trong tập kiểm tra.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Số lượng tham số: YOLOv13n tiết kiệm 18.6% số lượng tham số (2.45M so với 3.01M của YOLOv8n) nhờ kiến trúc backbone DS-C3k2 cải tiến.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Tốc độ: YOLOv8n có FPS cao hơn do cấu trúc đơn giản hơn, nhưng YOLOv13n vẫn đạt 27.1 FPS (đạt tốc độ thời gian thực trên thiết bị).</a:t>
            </a:r>
          </a:p>
          <a:p>
            <a:pPr algn="l">
              <a:defRPr sz="1000" b="1" i="0">
                <a:solidFill>
                  <a:srgbClr val="1A1A2E"/>
                </a:solidFill>
                <a:latin typeface="Arial"/>
              </a:defRPr>
            </a:pPr>
            <a:r>
              <a:t>• Kết luận: YOLOv13n chiếm ưu thế tuyệt đối về độ chính xác (mAP) và độ gọn nhẹ của mô hình.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32704" y="3483864"/>
            <a:ext cx="3730752" cy="2865213"/>
          </a:xfrm>
          <a:prstGeom prst="rect">
            <a:avLst/>
          </a:prstGeom>
          <a:noFill/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val_batch0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520440"/>
            <a:ext cx="3657600" cy="278892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509760" y="3520440"/>
            <a:ext cx="2377440" cy="2834640"/>
          </a:xfrm>
          <a:prstGeom prst="rect">
            <a:avLst/>
          </a:prstGeom>
          <a:solidFill>
            <a:srgbClr val="F1F8E9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3611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B5E20"/>
                </a:solidFill>
                <a:latin typeface="Arial"/>
              </a:defRPr>
            </a:pPr>
            <a:r>
              <a:t>ẢNH KẾT QUẢ PHÁT HIỆN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977639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7475F"/>
                </a:solidFill>
                <a:latin typeface="Arial"/>
              </a:defRPr>
            </a:pPr>
            <a:r>
              <a:t>Hình bên trái là một nhóm ảnh kết quả dự đoán thực tế trên tập kiểm tra.</a:t>
            </a:r>
          </a:p>
          <a:p>
            <a:pPr algn="l">
              <a:defRPr sz="900" b="0" i="0">
                <a:solidFill>
                  <a:srgbClr val="37475F"/>
                </a:solidFill>
                <a:latin typeface="Arial"/>
              </a:defRPr>
            </a:pPr>
            <a:r>
              <a:t>Mô hình khoanh vùng và phân loại chính xác đối tượng đồng xu (coin) và các món ăn kể cả khi có nhiều vật thể trong một ảnh.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PIPELINE ƯỚC LƯỢNG CALO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10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868680"/>
            <a:ext cx="36576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8961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3 MÔ HÌNH THỂ TÍCH HÌNH HỌC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365760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61872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Ellipsoid (khối elip):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  V = (4/3) x pi x (W/2) x (H/2) x (D/2)</a:t>
            </a: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Cylinder (khối trụ):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  V = pi x (W/2)^2 x (D/2)</a:t>
            </a: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Box (khối hộp):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  V = W x H x 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868680"/>
            <a:ext cx="36576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89611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BẢNG TỶ TRỌNG &amp; MÔ HÌNH LỚP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60520" y="1188720"/>
          <a:ext cx="36576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914400"/>
                <a:gridCol w="731520"/>
              </a:tblGrid>
              <a:tr h="28085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Lớp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kcal/100g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ρ (g/cm³)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Hình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apple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ellip.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egg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1.03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ellip.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orange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0.87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ellip.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bread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265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0.27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box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doughnut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cyl.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banana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89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0.94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ellip.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8001000" y="868680"/>
            <a:ext cx="420624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8961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VÍ DỤ ƯỚC LƯỢNG: Apple 165g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188720"/>
            <a:ext cx="4206240" cy="196596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23444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1. Từ YOLOv13n: bbox_px (W=80px, H=85px). Hệ số Scale = 25mm / coin_px.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2. Kích thước thực: W = 80 x Scale = 7.8cm, H = 8.3cm, D = 8.1cm.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3. Tính thể tích: V_ellipsoid = 179 cm³.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4. Tính khối lượng: m = V x ρ = 179 x 0.84 = 150.36g.</a:t>
            </a: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5. Năng lượng: C = 150.36 x (52 / 100) = 78.1 kcal.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91840"/>
            <a:ext cx="11521440" cy="3657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375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 i="0">
                <a:solidFill>
                  <a:srgbClr val="FFFFFF"/>
                </a:solidFill>
                <a:latin typeface="Arial"/>
              </a:defRPr>
            </a:pPr>
            <a:r>
              <a:t>Quy trình tính: Scale = 25mm/coin_px  |  Dài thực = bbox_px x Scale  |  V = Model_Thể_Tích(W,H,D)  |  Khối lượng m = V x ρ  |  Calo = m x (kcal/100g)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55064" y="3758184"/>
            <a:ext cx="8759952" cy="2921283"/>
          </a:xfrm>
          <a:prstGeom prst="rect">
            <a:avLst/>
          </a:prstGeom>
          <a:noFill/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ig1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3794760"/>
            <a:ext cx="8686800" cy="285005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691640" y="6661179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707A8C"/>
                </a:solidFill>
                <a:latin typeface="Arial"/>
              </a:defRPr>
            </a:pPr>
            <a:r>
              <a:t>Sơ đồ các bước tính calo từ ảnh thực phẩm: Phát hiện -&gt; Hiệu chuẩn scale -&gt; Ước lượng thể tích -&gt; Tính toán Calo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KẾT QUẢ ƯỚC LƯỢNG CALO - 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11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438912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751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KẾT QUẢ TỔNG THỂ (1,728 ảnh kiểm tra)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960120"/>
          <a:ext cx="4389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828800"/>
              </a:tblGrid>
              <a:tr h="3396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Chỉ số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Giá trị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MAE (khối lượng)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53.97g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88.77g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MAPE (calo)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46.93%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Accuracy@20%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33.16%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+1.49g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95% CI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[43.6%, 50.6%]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" y="3520440"/>
            <a:ext cx="438912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54787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PHÂN TÍCH THEO NHÓM HÌNH DẠNG GIẢ ĐỊNH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40480"/>
            <a:ext cx="4389120" cy="246888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• Geometric-friendly (hình dạng chuẩn):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  vải, trứng, mận -&gt; MAPE thấp: 19.8%</a:t>
            </a: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• Geometric-moderate (hình dạng trung bình):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  táo, đào, cam -&gt; MAPE: 34.6%</a:t>
            </a: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• Geometric-hostile (hình dạng phức tạp):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  bánh mì, nho, chuối -&gt; MAPE rất cao: 122.4% (do bánh mì xốp, nho dạng chùm, chuối cong)</a:t>
            </a: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• Kết quả sau khi lọc nhóm phức tạp (tập con n=1,304 đối tượng):</a:t>
            </a:r>
          </a:p>
          <a:p>
            <a:pPr algn="l">
              <a:defRPr sz="1050" b="1" i="0">
                <a:solidFill>
                  <a:srgbClr val="1A1A2E"/>
                </a:solidFill>
                <a:latin typeface="Arial"/>
              </a:defRPr>
            </a:pPr>
            <a:r>
              <a:t>  MAPE giảm xuống còn 28.7% (không phải cải thiện trên toàn bộ 1,728 đối tượng)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46904" y="603504"/>
            <a:ext cx="6656832" cy="2586006"/>
          </a:xfrm>
          <a:prstGeom prst="rect">
            <a:avLst/>
          </a:prstGeom>
          <a:noFill/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fig2_per_class_m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640080"/>
            <a:ext cx="6583680" cy="25103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983480" y="3180366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707A8C"/>
                </a:solidFill>
                <a:latin typeface="Arial"/>
              </a:defRPr>
            </a:pPr>
            <a:r>
              <a:t>Hình 1: Sai số calo MAPE từng lớp thực phẩm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46904" y="3483864"/>
            <a:ext cx="6656832" cy="2163209"/>
          </a:xfrm>
          <a:prstGeom prst="rect">
            <a:avLst/>
          </a:prstGeom>
          <a:noFill/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3_error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520440"/>
            <a:ext cx="6583680" cy="2087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83480" y="5637929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707A8C"/>
                </a:solidFill>
                <a:latin typeface="Arial"/>
              </a:defRPr>
            </a:pPr>
            <a:r>
              <a:t>Hình 2: Phân phối sai số khối lượng dự đoán (Mass Error Distribution)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PHÂN TÍCH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12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11521440" cy="640080"/>
          </a:xfrm>
          <a:prstGeom prst="rect">
            <a:avLst/>
          </a:prstGeom>
          <a:solidFill>
            <a:srgbClr val="F7F8FA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8580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B5E20"/>
                </a:solidFill>
                <a:latin typeface="Arial"/>
              </a:defRPr>
            </a:pPr>
            <a:r>
              <a:t>PHÁT HIỆN QUAN TRỌNG NHẤT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A1A2E"/>
                </a:solidFill>
                <a:latin typeface="Arial"/>
              </a:defRPr>
            </a:pPr>
            <a:r>
              <a:t>mAP@0.5 = 99.23%  NHƯNG  MAPE calo = 46.93%  =&gt;  Bottleneck KHÔNG nằm ở Phát hiện (Detection)!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417320"/>
            <a:ext cx="54864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44475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1" i="0">
                <a:solidFill>
                  <a:srgbClr val="FFFFFF"/>
                </a:solidFill>
                <a:latin typeface="Arial"/>
              </a:defRPr>
            </a:pPr>
            <a:r>
              <a:t>NGUỒN SAI SỐ - ABLATION STUDY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1737360"/>
          <a:ext cx="54864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1371600"/>
              </a:tblGrid>
              <a:tr h="4343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Cấu hình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MAPE calo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Đóng góp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Quy trình đầy đủ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46.93%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GT bbox + mật độ từng lớp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40.20%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14.3%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GT bbox + mật độ từng ảnh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10.35%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85.7%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20040" y="3611880"/>
            <a:ext cx="5486400" cy="320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639312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KẾT QUẢ PHỦ ĐỊNH (NEGATIVE): MiDaS Depth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931920"/>
            <a:ext cx="5486400" cy="2377440"/>
          </a:xfrm>
          <a:prstGeom prst="rect">
            <a:avLst/>
          </a:prstGeom>
          <a:solidFill>
            <a:srgbClr val="F7F8FA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23360"/>
            <a:ext cx="52120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Thử nghiệm với MiDaS_small (ước lượng độ sâu): MAPE tăng vọt lên 132.13% (kém xa mức cơ sở 46.93%).</a:t>
            </a:r>
          </a:p>
          <a:p>
            <a:pPr algn="l">
              <a:defRPr sz="1000" b="0" i="0">
                <a:solidFill>
                  <a:srgbClr val="1A1A2E"/>
                </a:solidFill>
                <a:latin typeface="Arial"/>
              </a:defRPr>
            </a:pPr>
            <a:r>
              <a:t>• Lý do: Cảm biến chiều sâu đơn nhất chỉ cho độ sâu tương đối (relative depth), không có hệ số tỷ lệ thực tế (metric scale).</a:t>
            </a:r>
          </a:p>
          <a:p>
            <a:pPr algn="l">
              <a:defRPr sz="1000" b="1" i="0">
                <a:solidFill>
                  <a:srgbClr val="1A1A2E"/>
                </a:solidFill>
                <a:latin typeface="Arial"/>
              </a:defRPr>
            </a:pPr>
            <a:r>
              <a:t>• Bài học: Phương pháp ước lượng độ sâu đơn thuần không giúp ích, cố định hình học đơn giản với hệ số scale đồng xu vẫn tốt hơn.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4184" y="1380744"/>
            <a:ext cx="5559552" cy="3007055"/>
          </a:xfrm>
          <a:prstGeom prst="rect">
            <a:avLst/>
          </a:prstGeom>
          <a:noFill/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7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417320"/>
            <a:ext cx="5486400" cy="29297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80760" y="4378655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1">
                <a:solidFill>
                  <a:srgbClr val="707A8C"/>
                </a:solidFill>
                <a:latin typeface="Arial"/>
              </a:defRPr>
            </a:pPr>
            <a:r>
              <a:t>Hình 1: Phân tích biểu đồ Ablation Study đóng góp nguồn sai số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4572000"/>
            <a:ext cx="2606040" cy="1737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47091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85.7%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25780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Sai số đến từ mô hình</a:t>
            </a:r>
            <a:br/>
            <a:r>
              <a:t>THỂ TÍCH HÌNH HỌC</a:t>
            </a:r>
            <a:br/>
            <a:r>
              <a:t>(Bottleneck thực sự)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4572000"/>
            <a:ext cx="2606040" cy="1737360"/>
          </a:xfrm>
          <a:prstGeom prst="rect">
            <a:avLst/>
          </a:prstGeom>
          <a:solidFill>
            <a:srgbClr val="66BB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470916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 i="0">
                <a:solidFill>
                  <a:srgbClr val="FFFFFF"/>
                </a:solidFill>
                <a:latin typeface="Arial"/>
              </a:defRPr>
            </a:pPr>
            <a:r>
              <a:t>14.3%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5257800"/>
            <a:ext cx="2606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 i="0">
                <a:solidFill>
                  <a:srgbClr val="FFFFFF"/>
                </a:solidFill>
                <a:latin typeface="Arial"/>
              </a:defRPr>
            </a:pPr>
            <a:r>
              <a:t>Sai số do mô hình</a:t>
            </a:r>
            <a:br/>
            <a:r>
              <a:t>PHÁT HIỆN (YOLO)</a:t>
            </a:r>
            <a:br/>
            <a:r>
              <a:t>(Đã bão hòa)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SO SÁNH YOLOv13n vs YOLOv8n &amp; TỐI ƯU TỐC ĐỘ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13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658368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67512"/>
            <a:ext cx="6309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SO SÁNH YOLOv13n vs YOLOv8n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96012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463040"/>
                <a:gridCol w="1463040"/>
                <a:gridCol w="15544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Chỉ số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YOLOv13n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YOLOv8n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Thắng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mAP@0.5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99.23%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99.08%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YOLOv13n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mAP@0.5:0.95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91.73%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90.93%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YOLOv13n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MAPE calo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46.93%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45.22%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Tương đương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Tham số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2.45M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3.01M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YOLOv13n (-18.6%)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Tốc độ (FPS)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27.1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56.5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A1A2E"/>
                          </a:solidFill>
                          <a:latin typeface="Arial"/>
                        </a:defRPr>
                      </a:pPr>
                      <a:r>
                        <a:t>YOLOv8n (2.09×)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320040" y="3246120"/>
            <a:ext cx="6583680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29184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Hiệu suất calo TƯƠNG ĐƯƠNG -&gt; Củng cố: Bottleneck KHÔNG phải là mô hình phát hiện (detection)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640080"/>
            <a:ext cx="50292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6675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TỐI ƯU TỐC ĐỘ SUY LUẬN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960120"/>
            <a:ext cx="5029200" cy="210312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10515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A1A2E"/>
                </a:solidFill>
                <a:latin typeface="Arial"/>
              </a:defRPr>
            </a:pPr>
            <a:r>
              <a:t>ONNX Runtime: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Nhanh hơn 1.14 lần (32.44ms)</a:t>
            </a:r>
          </a:p>
          <a:p>
            <a:pPr algn="l">
              <a:defRPr sz="1200" b="1" i="0">
                <a:solidFill>
                  <a:srgbClr val="1A1A2E"/>
                </a:solidFill>
                <a:latin typeface="Arial"/>
              </a:defRPr>
            </a:pPr>
            <a:r>
              <a:t>TensorRT: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Nhanh hơn 1.15 lần (32.07ms)</a:t>
            </a:r>
          </a:p>
          <a:p>
            <a:pPr algn="l">
              <a:defRPr sz="1200" b="1" i="0">
                <a:solidFill>
                  <a:srgbClr val="1A1A2E"/>
                </a:solidFill>
                <a:latin typeface="Arial"/>
              </a:defRPr>
            </a:pPr>
            <a:r>
              <a:t>Batch=8: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Nhanh hơn 2.37 lần (15.53ms)</a:t>
            </a:r>
          </a:p>
          <a:p>
            <a:pPr algn="l">
              <a:defRPr sz="1200" b="1" i="0">
                <a:solidFill>
                  <a:srgbClr val="1A1A2E"/>
                </a:solidFill>
                <a:latin typeface="Arial"/>
              </a:defRPr>
            </a:pPr>
            <a:r>
              <a:t>Batch=16: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Nhanh hơn 2.44 lần (15.09ms, 66.3 FPS)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3154680"/>
            <a:ext cx="502920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2004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Tri thức chưng cất (KD): +0.31% mAP (rất nhỏ) -&gt; Phát hiện đã BÃO HÒA</a:t>
            </a:r>
          </a:p>
        </p:txBody>
      </p:sp>
      <p:pic>
        <p:nvPicPr>
          <p:cNvPr id="19" name="Picture 18" descr="fig4_batch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886200"/>
            <a:ext cx="5303520" cy="2835687"/>
          </a:xfrm>
          <a:prstGeom prst="rect">
            <a:avLst/>
          </a:prstGeom>
        </p:spPr>
      </p:pic>
      <p:pic>
        <p:nvPicPr>
          <p:cNvPr id="20" name="Picture 19" descr="fig5_kd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886200"/>
            <a:ext cx="5669280" cy="169951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Ý NGHĨA - HẠN CHẾ -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09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 i="0">
                <a:solidFill>
                  <a:srgbClr val="66BB6A"/>
                </a:solidFill>
                <a:latin typeface="Arial"/>
              </a:defRPr>
            </a:pPr>
            <a:r>
              <a:t>14 /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12191695" cy="36576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70255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TTCS - YOLOv13 Ước Lượng Calo Thực Phẩm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702552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0">
                <a:solidFill>
                  <a:srgbClr val="707A8C"/>
                </a:solidFill>
                <a:latin typeface="Arial"/>
              </a:defRPr>
            </a:pPr>
            <a:r>
              <a:t>PTIT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640080"/>
            <a:ext cx="3749039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76656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3 ĐÓNG GÓP CHÍNH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987552"/>
            <a:ext cx="3749039" cy="365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07899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Arial"/>
              </a:defRPr>
            </a:pPr>
            <a:r>
              <a:t>1. Phân tích quy trình end-to-end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33502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 Thay vì chỉ đánh giá mAP phát hiện đơn thuần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Arial"/>
              </a:defRPr>
            </a:pPr>
            <a:r>
              <a:t>2. Xác định bottleneck định lượng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81051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 85.7% sai số đến từ ước lượng thể tích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2996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Arial"/>
              </a:defRPr>
            </a:pPr>
            <a:r>
              <a:t>3. Kết quả phủ định (negative) về MiDaS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28600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 Ước lượng độ sâu đơn nhất không giúp cải thiện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640080"/>
            <a:ext cx="3749039" cy="34747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676656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HẠN CHẾ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987552"/>
            <a:ext cx="3749039" cy="365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07899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Tập dữ liệu nhỏ, 19 lớp thực phẩm Trung Quốc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129844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(chưa tổng quát hóa)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151790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62828"/>
                </a:solidFill>
                <a:latin typeface="Arial"/>
              </a:defRPr>
            </a:pPr>
            <a:r>
              <a:t>Phương pháp hình học không phù hợp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177393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với thực phẩm có hình dạng phức tạp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199339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Không phân biệt cụm đối tượng (cluster)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221284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(ví dụ: chùm nho = 1 bbox)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243230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Hiệu suất phụ thuộc vào góc chụp ảnh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640080"/>
            <a:ext cx="3749039" cy="34747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676656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HƯỚNG PHÁT TRIỂN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66760" y="987552"/>
            <a:ext cx="3749039" cy="365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03920" y="107899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Arial"/>
              </a:defRPr>
            </a:pPr>
            <a:r>
              <a:t>1. SAM / YOLO-seg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335024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 Thay thế bounding box bằng 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155448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Arial"/>
              </a:defRPr>
            </a:pPr>
            <a:r>
              <a:t>2. Per-class 3D shape prior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1810512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 Thiết lập mô hình hình học riêng cho từng lớp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02996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Arial"/>
              </a:defRPr>
            </a:pPr>
            <a:r>
              <a:t>3. Triển khai trên Mobile (Mobile deployment)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286000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 Chuyển đổi ONNX/TensorRT + viết app di động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505456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B5E20"/>
                </a:solidFill>
                <a:latin typeface="Arial"/>
              </a:defRPr>
            </a:pPr>
            <a:r>
              <a:t>4. Mở rộng tập dữ liệu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2761488"/>
            <a:ext cx="35204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 Tích hợp Nutrition5k + thực phẩm Việt Nam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800600"/>
            <a:ext cx="1152144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4846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TÓM TẮT: Bottleneck thực sự là ƯỚC LƯỢNG THỂ TÍCH, không phải PHÁT HIỆN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394960"/>
            <a:ext cx="11521440" cy="1005840"/>
          </a:xfrm>
          <a:prstGeom prst="rect">
            <a:avLst/>
          </a:prstGeom>
          <a:solidFill>
            <a:srgbClr val="F7F8FA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48640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Kết quả nghiên cứu cho thấy trong hệ thống ước lượng calo từ ảnh RGB đơn: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- Phát hiện (YOLOv13n) đạt hiệu suất rất cao: mAP@0.5 = 99.23%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- Nhưng ước lượng calo vẫn còn khó khăn: MAPE = 46.93%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- 85.7% sai số đến từ ước lượng thể tích hình học (ellipsoid/cylinder/box)</a:t>
            </a:r>
          </a:p>
          <a:p>
            <a:pPr algn="l">
              <a:defRPr sz="1150" b="1" i="0">
                <a:solidFill>
                  <a:srgbClr val="1A1A2E"/>
                </a:solidFill>
                <a:latin typeface="Arial"/>
              </a:defRPr>
            </a:pPr>
            <a:r>
              <a:t>=&gt; Đóng góp chính: Xác định ước lượng thể tích (volume estimation) là bottleneck thực sự, không phải phát hiện (detection)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B5E20"/>
                </a:solidFill>
                <a:latin typeface="Arial"/>
              </a:defRPr>
            </a:pPr>
            <a:r>
              <a:t>TỔNG KẾT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685800"/>
            <a:ext cx="8229600" cy="228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777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37475F"/>
                </a:solidFill>
                <a:latin typeface="Arial"/>
              </a:defRPr>
            </a:pPr>
            <a:r>
              <a:t>Hệ thống ước lượng calo end-to-end: YOLOv13n + Quy trình hình học + Bảng tỷ trọng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1965960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99.23%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mAP@0.5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103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Arial"/>
              </a:defRPr>
            </a:pPr>
            <a:r>
              <a:t>Phát hiện xuất sắc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280160"/>
            <a:ext cx="1965960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1325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46.93%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MAPE calo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103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Arial"/>
              </a:defRPr>
            </a:pPr>
            <a:r>
              <a:t>Ước lượng calo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280160"/>
            <a:ext cx="1965960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325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85.7%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Sai số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103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Arial"/>
              </a:defRPr>
            </a:pPr>
            <a:r>
              <a:t>Từ ước lượng thể tích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1280160"/>
            <a:ext cx="1965960" cy="12344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132588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FFFFF"/>
                </a:solidFill>
                <a:latin typeface="Arial"/>
              </a:defRPr>
            </a:pPr>
            <a:r>
              <a:t>66.3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Arial"/>
              </a:defRPr>
            </a:pPr>
            <a:r>
              <a:t>FPS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10312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FFFFFF"/>
                </a:solidFill>
                <a:latin typeface="Arial"/>
              </a:defRPr>
            </a:pPr>
            <a:r>
              <a:t>Tốc độ (Batch=16)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697480"/>
            <a:ext cx="8229600" cy="4572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7432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</a:defRPr>
            </a:pPr>
            <a:r>
              <a:t>ĐÓNG GÓP: Xác định BOTTLENECK thực sự (ước lượng thể tích, không phải phát hiện)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291840"/>
            <a:ext cx="8229600" cy="320040"/>
          </a:xfrm>
          <a:prstGeom prst="rect">
            <a:avLst/>
          </a:prstGeom>
          <a:solidFill>
            <a:srgbClr val="DE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383280"/>
            <a:ext cx="79552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Xây dựng quy trình ước lượng calo từ ảnh RGB đơn với: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- YOLOv13n phát hiện thực phẩm đạt mAP@0.5 = 99.23%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- 3 mô hình thể tích hình học: ellipsoid, cylinder, box</a:t>
            </a:r>
          </a:p>
          <a:p>
            <a:pPr algn="l">
              <a:defRPr sz="1100" b="0" i="0">
                <a:solidFill>
                  <a:srgbClr val="1A1A2E"/>
                </a:solidFill>
                <a:latin typeface="Arial"/>
              </a:defRPr>
            </a:pPr>
            <a:r>
              <a:t>  - Bảng tỷ trọng per-class từ tập dữ liệu ECUSTFD</a:t>
            </a:r>
          </a:p>
          <a:p>
            <a:pPr algn="l">
              <a:defRPr sz="400" b="0" i="0">
                <a:solidFill>
                  <a:srgbClr val="1A1A2E"/>
                </a:solidFill>
                <a:latin typeface="Arial"/>
              </a:defRPr>
            </a:pP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Phát hiện quan trọng: Bottleneck nằm ở ƯỚC LƯỢNG THỂ TÍCH (85.7% sai số),</a:t>
            </a:r>
          </a:p>
          <a:p>
            <a:pPr algn="l">
              <a:defRPr sz="1100" b="1" i="0">
                <a:solidFill>
                  <a:srgbClr val="1A1A2E"/>
                </a:solidFill>
                <a:latin typeface="Arial"/>
              </a:defRPr>
            </a:pPr>
            <a:r>
              <a:t>không phải PHÁT HIỆN. Mô hình hình học đơn giản không đủ chính xác.</a:t>
            </a:r>
          </a:p>
          <a:p>
            <a:pPr algn="l">
              <a:defRPr sz="1050" b="1" i="0">
                <a:solidFill>
                  <a:srgbClr val="1A1A2E"/>
                </a:solidFill>
                <a:latin typeface="Arial"/>
              </a:defRPr>
            </a:pPr>
            <a:r>
              <a:t>Ưu tiên số 1 tiếp theo: Thay bounding box bằng SAM segmentation → dự kiến giảm MAPE ~15-20pp trên lớp hostile.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394960"/>
            <a:ext cx="7315200" cy="1005840"/>
          </a:xfrm>
          <a:prstGeom prst="rect">
            <a:avLst/>
          </a:prstGeom>
          <a:solidFill>
            <a:srgbClr val="F7F8FA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544068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1B5E20"/>
                </a:solidFill>
                <a:latin typeface="Arial"/>
              </a:defRPr>
            </a:pPr>
            <a:r>
              <a:t>CẢM ƠN THẦY/CÔ ĐÃ LẮNG NGHE!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94360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37475F"/>
                </a:solidFill>
                <a:latin typeface="Arial"/>
              </a:defRPr>
            </a:pPr>
            <a:r>
              <a:t>Hỏi đáp &amp; Thảo luận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626364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707A8C"/>
                </a:solidFill>
                <a:latin typeface="Arial"/>
              </a:defRPr>
            </a:pPr>
            <a:r>
              <a:t>B23DCCE012 - Đặng Văn Chiến - Hà Nội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707A8C"/>
                </a:solidFill>
                <a:latin typeface="Arial"/>
              </a:defRPr>
            </a:pPr>
            <a:r>
              <a:t>15 / 15</a:t>
            </a:r>
          </a:p>
        </p:txBody>
      </p:sp>
      <p:pic>
        <p:nvPicPr>
          <p:cNvPr id="33" name="Picture 32" descr="fig8_dataset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74320"/>
            <a:ext cx="3566160" cy="25832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